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5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GB" sz="1300" b="0" i="0" u="none" strike="noStrike">
                <a:solidFill>
                  <a:srgbClr val="1E2761"/>
                </a:solidFill>
                <a:latin typeface="Calibri"/>
              </a:rPr>
              <a:t>Revenue vs. Orders by Period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(₦'000)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Early</c:v>
                </c:pt>
                <c:pt idx="1">
                  <c:v>Mid</c:v>
                </c:pt>
                <c:pt idx="2">
                  <c:v>Mid-Late</c:v>
                </c:pt>
                <c:pt idx="3">
                  <c:v>Late</c:v>
                </c:pt>
                <c:pt idx="4">
                  <c:v>Year-End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</c:v>
                </c:pt>
                <c:pt idx="1">
                  <c:v>27</c:v>
                </c:pt>
                <c:pt idx="2">
                  <c:v>24</c:v>
                </c:pt>
                <c:pt idx="3">
                  <c:v>17</c:v>
                </c:pt>
                <c:pt idx="4">
                  <c:v>12.5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71-4C6D-A871-F2C331E8B7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Early</c:v>
                </c:pt>
                <c:pt idx="1">
                  <c:v>Mid</c:v>
                </c:pt>
                <c:pt idx="2">
                  <c:v>Mid-Late</c:v>
                </c:pt>
                <c:pt idx="3">
                  <c:v>Late</c:v>
                </c:pt>
                <c:pt idx="4">
                  <c:v>Year-End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55</c:v>
                </c:pt>
                <c:pt idx="1">
                  <c:v>54</c:v>
                </c:pt>
                <c:pt idx="2">
                  <c:v>48</c:v>
                </c:pt>
                <c:pt idx="3">
                  <c:v>38</c:v>
                </c:pt>
                <c:pt idx="4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771-4C6D-A871-F2C331E8B7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761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GB" sz="1100" b="0" i="0" u="none" strike="noStrike">
                <a:solidFill>
                  <a:srgbClr val="1E2761"/>
                </a:solidFill>
                <a:latin typeface="Calibri"/>
              </a:rPr>
              <a:t>Average Discount Trend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Discount (%)</c:v>
                </c:pt>
              </c:strCache>
            </c:strRef>
          </c:tx>
          <c:spPr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Early</c:v>
                </c:pt>
                <c:pt idx="1">
                  <c:v>Mid</c:v>
                </c:pt>
                <c:pt idx="2">
                  <c:v>Mid-Late</c:v>
                </c:pt>
                <c:pt idx="3">
                  <c:v>Late</c:v>
                </c:pt>
                <c:pt idx="4">
                  <c:v>Year-End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4</c:v>
                </c:pt>
                <c:pt idx="2">
                  <c:v>7</c:v>
                </c:pt>
                <c:pt idx="3">
                  <c:v>12</c:v>
                </c:pt>
                <c:pt idx="4">
                  <c:v>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99A-4875-B91F-C2D86C39908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GB" sz="1300" b="0" i="0" u="none" strike="noStrike">
                <a:solidFill>
                  <a:srgbClr val="1E2761"/>
                </a:solidFill>
                <a:latin typeface="Calibri"/>
              </a:rPr>
              <a:t>Revenue by Category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(₦)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Fashion</c:v>
                </c:pt>
                <c:pt idx="1">
                  <c:v>Home</c:v>
                </c:pt>
                <c:pt idx="2">
                  <c:v>Beauty</c:v>
                </c:pt>
                <c:pt idx="3">
                  <c:v>Electronics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84999</c:v>
                </c:pt>
                <c:pt idx="1">
                  <c:v>67715</c:v>
                </c:pt>
                <c:pt idx="2">
                  <c:v>66821</c:v>
                </c:pt>
                <c:pt idx="3">
                  <c:v>45398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91-4522-873A-9F81A3E171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GB" sz="1300" b="0" i="0" u="none" strike="noStrike">
                <a:solidFill>
                  <a:srgbClr val="1E2761"/>
                </a:solidFill>
                <a:latin typeface="Calibri"/>
              </a:rPr>
              <a:t>Customer Rating Distribution (n=200)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Feedback Count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 ★</c:v>
                </c:pt>
                <c:pt idx="1">
                  <c:v>2 ★</c:v>
                </c:pt>
                <c:pt idx="2">
                  <c:v>3 ★</c:v>
                </c:pt>
                <c:pt idx="3">
                  <c:v>4 ★</c:v>
                </c:pt>
                <c:pt idx="4">
                  <c:v>5 ★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</c:v>
                </c:pt>
                <c:pt idx="1">
                  <c:v>20</c:v>
                </c:pt>
                <c:pt idx="2">
                  <c:v>20</c:v>
                </c:pt>
                <c:pt idx="3">
                  <c:v>72</c:v>
                </c:pt>
                <c:pt idx="4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1A-421E-A9B4-E4E01AD74A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0094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CASE STUDY  ·  SYNTHETIC DATASET  ·  SQL + TABLEAU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FALL OF NOVAMART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Investigating decline in revenue and order volume in 2025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1605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NovaMart 2025 — Business Recovery &amp; Action Plan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55371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performance signals to management decisions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Olabode Goodness Daniel (OGD)  ·  Business Analyst Portfolio Project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64190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C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AI-generated / synthetic, used for portfolio and learning purposes only.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Signals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42032" cy="2651760"/>
          </a:xfrm>
          <a:prstGeom prst="roundRect">
            <a:avLst>
              <a:gd name="adj" fmla="val 4317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947672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2176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₦264,933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49808" y="3566160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FY2025, synthetic dataset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6704" y="1691640"/>
            <a:ext cx="2542032" cy="2651760"/>
          </a:xfrm>
          <a:prstGeom prst="roundRect">
            <a:avLst>
              <a:gd name="adj" fmla="val 4317"/>
            </a:avLst>
          </a:prstGeom>
          <a:solidFill>
            <a:srgbClr val="CADCFC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47872" y="1947672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29584" y="2468880"/>
            <a:ext cx="2176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547872" y="3566160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year order volume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44768" y="1691640"/>
            <a:ext cx="2542032" cy="2651760"/>
          </a:xfrm>
          <a:prstGeom prst="roundRect">
            <a:avLst>
              <a:gd name="adj" fmla="val 4317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45936" y="1947672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DISCOUNT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27648" y="2468880"/>
            <a:ext cx="2176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2.64%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345936" y="3566160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Rises sharply late in the year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42832" y="1691640"/>
            <a:ext cx="2542032" cy="2651760"/>
          </a:xfrm>
          <a:prstGeom prst="roundRect">
            <a:avLst>
              <a:gd name="adj" fmla="val 4317"/>
            </a:avLst>
          </a:prstGeom>
          <a:solidFill>
            <a:srgbClr val="CADCFC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0" y="1947672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ORDER RATE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25712" y="2468880"/>
            <a:ext cx="2176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17.1%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144000" y="3566160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of 560 orders — roughly 1 in 6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10936224" cy="1417320"/>
          </a:xfrm>
          <a:prstGeom prst="roundRect">
            <a:avLst>
              <a:gd name="adj" fmla="val 6452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892040"/>
            <a:ext cx="103875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signals: </a:t>
            </a:r>
            <a:r>
              <a:rPr lang="en-GB" sz="1400" dirty="0">
                <a:solidFill>
                  <a:schemeClr val="tx2"/>
                </a:solidFill>
              </a:rPr>
              <a:t>Revenue and order volume appear substantial in aggregate, but the monthly trend reveals a significant deterioration toward year-end</a:t>
            </a:r>
            <a:r>
              <a:rPr lang="en-US" sz="1300" dirty="0">
                <a:solidFill>
                  <a:srgbClr val="1E276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NovaMart 2025 — Business Recovery &amp; Action Plan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875520" y="6528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Happening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481328"/>
          </a:xfrm>
          <a:prstGeom prst="roundRect">
            <a:avLst>
              <a:gd name="adj" fmla="val 6173"/>
            </a:avLst>
          </a:prstGeom>
          <a:solidFill>
            <a:srgbClr val="F7F8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0136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0136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2221992"/>
            <a:ext cx="489204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fell from ~₦25K–₦30K to ~₦11K–₦14K toward year-end.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349240" cy="1481328"/>
          </a:xfrm>
          <a:prstGeom prst="roundRect">
            <a:avLst>
              <a:gd name="adj" fmla="val 6173"/>
            </a:avLst>
          </a:prstGeom>
          <a:solidFill>
            <a:srgbClr val="F7F8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80136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80136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92240" y="2221992"/>
            <a:ext cx="489204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order volume dropped from 55 orders to 30 orders over the same period.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349240" cy="1481328"/>
          </a:xfrm>
          <a:prstGeom prst="roundRect">
            <a:avLst>
              <a:gd name="adj" fmla="val 6173"/>
            </a:avLst>
          </a:prstGeom>
          <a:solidFill>
            <a:srgbClr val="F7F8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44728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4728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77240" y="3867912"/>
            <a:ext cx="489204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rose sharply (to ~16% at peak) as performance weakened — a pattern worth investigating, not yet a proven cause.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3246120"/>
            <a:ext cx="5349240" cy="1481328"/>
          </a:xfrm>
          <a:prstGeom prst="roundRect">
            <a:avLst>
              <a:gd name="adj" fmla="val 6173"/>
            </a:avLst>
          </a:prstGeom>
          <a:solidFill>
            <a:srgbClr val="F7F8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344728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344728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92240" y="3867912"/>
            <a:ext cx="489204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leads all categories at ₦84,999; Electronics trails at ₦45,398.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5349240" cy="1481328"/>
          </a:xfrm>
          <a:prstGeom prst="roundRect">
            <a:avLst>
              <a:gd name="adj" fmla="val 6173"/>
            </a:avLst>
          </a:prstGeom>
          <a:solidFill>
            <a:srgbClr val="F7F8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09320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09320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7240" y="5513832"/>
            <a:ext cx="489204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17.1% of orders (96 of 560) were delayed — about 1 in 6.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4892040"/>
            <a:ext cx="5349240" cy="1481328"/>
          </a:xfrm>
          <a:prstGeom prst="roundRect">
            <a:avLst>
              <a:gd name="adj" fmla="val 6173"/>
            </a:avLst>
          </a:prstGeom>
          <a:solidFill>
            <a:srgbClr val="F7F8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509320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509320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92240" y="5513832"/>
            <a:ext cx="489204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4–5 make up 68% of feedback, but the</a:t>
            </a:r>
            <a:r>
              <a:rPr lang="en-GB" sz="1250" dirty="0">
                <a:solidFill>
                  <a:srgbClr val="002060"/>
                </a:solidFill>
              </a:rPr>
              <a:t> remaining 32% of feedback is rated 1–3 stars and should be investigated to identify the underlying causes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NovaMart 2025 — Business Recovery &amp; Action Plan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875520" y="6528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and Orders Weaken as Discounting Rises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667512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7406640" y="1600200"/>
          <a:ext cx="42062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7406640" y="3977640"/>
            <a:ext cx="4206240" cy="2057400"/>
          </a:xfrm>
          <a:prstGeom prst="roundRect">
            <a:avLst>
              <a:gd name="adj" fmla="val 4444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635240" y="416052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hypothesis, not proof:  </a:t>
            </a: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Discounting increased in the same period revenue and orders declined. This analysis does not establish that discounting caused the decline — it flags a relationship that needs deeper investigation (Discount → Orders → Revenue → Margin).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NovaMart 2025 — Business Recovery &amp; Action Plan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9875520" y="6528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Performance And Product Profitability Should Be Evaluated Separately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53949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309360" y="16002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by Estimated Profit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011680"/>
          <a:ext cx="5303520" cy="192024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Profit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₦10,720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₦7,100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₦7,052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₦6,579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₦6,435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309360" y="4206240"/>
            <a:ext cx="5303520" cy="1645920"/>
          </a:xfrm>
          <a:prstGeom prst="roundRect">
            <a:avLst>
              <a:gd name="adj" fmla="val 5556"/>
            </a:avLst>
          </a:prstGeom>
          <a:solidFill>
            <a:srgbClr val="CADCFC"/>
          </a:solidFill>
          <a:ln/>
        </p:spPr>
      </p:sp>
      <p:sp>
        <p:nvSpPr>
          <p:cNvPr id="8" name="Text 4"/>
          <p:cNvSpPr/>
          <p:nvPr/>
        </p:nvSpPr>
        <p:spPr>
          <a:xfrm>
            <a:off x="6537960" y="438912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 </a:t>
            </a: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drives the most revenue, but revenue rank and profit rank are not the same thing. Products should be classified by Revenue × Profit × Margin × Quantity Sold before deciding what to protect, promote, or review.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NovaMart 2025 — Business Recovery &amp; Action Plan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9875520" y="6528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Delays and Customer Feedback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4434840"/>
          </a:xfrm>
          <a:prstGeom prst="roundRect">
            <a:avLst>
              <a:gd name="adj" fmla="val 247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17.1%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orders were delayed — 96 of 560, roughly 1 in 6.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3977640"/>
            <a:ext cx="4480560" cy="0"/>
          </a:xfrm>
          <a:prstGeom prst="line">
            <a:avLst/>
          </a:prstGeom>
          <a:noFill/>
          <a:ln w="12700">
            <a:solidFill>
              <a:srgbClr val="4A5A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16052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FACT: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6 orders arrived late.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delays may be linked to lower ratings — this dashboard does not prove causation.</a:t>
            </a:r>
            <a:endParaRPr lang="en-US" sz="12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6035040" y="1645920"/>
          <a:ext cx="55778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6035040" y="5486400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feedback is rated 4–5 stars (136 of 200 records) — a solid base, with room to investigate the remaining 32%.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NovaMart 2025 — Business Recovery &amp; Action Plan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875520" y="6528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Actions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F7F8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Revenue &amp; Order Decline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acquisition, retention, demand, inventory, pricing, seasonality and competitive pressure before acting.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62272" y="155448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F7F8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90872" y="1783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90872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90872" y="24231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Discount Strategy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90872" y="29718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Discount → Orders → Revenue → Margin to see if promotions justify the margin given up.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75904" y="155448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F7F8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04504" y="1783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604504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04504" y="24231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Product Portfolio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604504" y="29718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products by revenue, profit, margin and quantity sold; protect the strong, review the weak.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F7F8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8006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Delivery Reliability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53492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down the 96 delayed orders by location, partner, duration and time period to find the bottleneck.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62272" y="393192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F7F8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90872" y="4160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690872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90872" y="48006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Customer Retention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690872" y="53492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customers by revenue, frequency, recency and value to spot who's at risk of going inactive.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375904" y="393192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F7F8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04504" y="4160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604504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604504" y="48006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Lower Ratings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604504" y="53492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rating against delivery performance, complaint type, product and customer segment.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   DIAGNOSE  →  PROTECT  →  FIX  →  RETAIN  →  MONITOR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NovaMart 2025 — Business Recovery &amp; Action Plan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875520" y="6528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&amp;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of Inaction — and How Success Is Measured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CONSEQUENCES OF INACTION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04825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revenue erosion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55117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order momentum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305409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971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margin pressure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355701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474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operational inefficiency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405993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977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risk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456285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480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competitive disadvantage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120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as risks, not guaranteed outcomes.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1554480"/>
            <a:ext cx="2560320" cy="2240280"/>
          </a:xfrm>
          <a:prstGeom prst="roundRect">
            <a:avLst>
              <a:gd name="adj" fmla="val 4082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17190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6520" y="20574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Growth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52560" y="1554480"/>
            <a:ext cx="2560320" cy="2240280"/>
          </a:xfrm>
          <a:prstGeom prst="roundRect">
            <a:avLst>
              <a:gd name="adj" fmla="val 4082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2" name="Text 20"/>
          <p:cNvSpPr/>
          <p:nvPr/>
        </p:nvSpPr>
        <p:spPr>
          <a:xfrm>
            <a:off x="9235440" y="17190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35440" y="20574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 &amp; Margin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Discount</a:t>
            </a:r>
            <a:endParaRPr lang="en-US" sz="1050" dirty="0"/>
          </a:p>
          <a:p>
            <a:pPr>
              <a:spcAft>
                <a:spcPts val="600"/>
              </a:spcAft>
              <a:buSzPct val="100000"/>
            </a:pP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3931920"/>
            <a:ext cx="2560320" cy="2240280"/>
          </a:xfrm>
          <a:prstGeom prst="roundRect">
            <a:avLst>
              <a:gd name="adj" fmla="val 4082"/>
            </a:avLst>
          </a:prstGeom>
          <a:solidFill>
            <a:srgbClr val="CADCFC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40965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443484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Rate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Order Rate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Delivery Time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052560" y="3931920"/>
            <a:ext cx="2560320" cy="2240280"/>
          </a:xfrm>
          <a:prstGeom prst="roundRect">
            <a:avLst>
              <a:gd name="adj" fmla="val 4082"/>
            </a:avLst>
          </a:prstGeom>
          <a:solidFill>
            <a:srgbClr val="F4F6FC"/>
          </a:solidFill>
          <a:ln/>
        </p:spPr>
      </p:sp>
      <p:sp>
        <p:nvSpPr>
          <p:cNvPr id="28" name="Text 26"/>
          <p:cNvSpPr/>
          <p:nvPr/>
        </p:nvSpPr>
        <p:spPr>
          <a:xfrm>
            <a:off x="9235440" y="40965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235440" y="443484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&amp; Repeat Rate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Low-Rating Rate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NovaMart 2025 — Business Recovery &amp; Action Plan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875520" y="6528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PRINCIPLE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“NovaMart’s performance signals call for targeted intervention, not isolated fixes.”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first, protect profitability, fix operational friction, retain valuable customers, and monitor whether the KPIs confirm recovery.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663440"/>
            <a:ext cx="29260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892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 →  PROTECT  →  FIX  →  RETAIN  →  MONITOR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263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Olabode Goodness Daniel (OGD)  ·  Business Analyst Portfolio  ·  linkedin.com/in/ogdanalytics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889</TotalTime>
  <Words>877</Words>
  <Application>Microsoft Office PowerPoint</Application>
  <PresentationFormat>Widescreen</PresentationFormat>
  <Paragraphs>140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OGD .</cp:lastModifiedBy>
  <cp:revision>2</cp:revision>
  <dcterms:created xsi:type="dcterms:W3CDTF">2026-08-24T20:12:42Z</dcterms:created>
  <dcterms:modified xsi:type="dcterms:W3CDTF">2026-08-25T11:19:11Z</dcterms:modified>
</cp:coreProperties>
</file>